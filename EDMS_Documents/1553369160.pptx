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7" autoAdjust="0"/>
    <p:restoredTop sz="36148" autoAdjust="0"/>
  </p:normalViewPr>
  <p:slideViewPr>
    <p:cSldViewPr snapToGrid="0">
      <p:cViewPr varScale="1">
        <p:scale>
          <a:sx n="32" d="100"/>
          <a:sy n="32" d="100"/>
        </p:scale>
        <p:origin x="20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6A3CD-D7F9-4688-9FAF-96624D3CC24A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05339-08FD-4BE4-9A7E-DB09E99E4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2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 CHECK-IN CHECK-OUT EDITING</a:t>
            </a:r>
          </a:p>
          <a:p>
            <a:r>
              <a:rPr lang="en-US" dirty="0"/>
              <a:t>Find out if comments are live </a:t>
            </a:r>
            <a:r>
              <a:rPr lang="en-US"/>
              <a:t>in Alfresco</a:t>
            </a:r>
            <a:endParaRPr lang="en-US" dirty="0"/>
          </a:p>
          <a:p>
            <a:endParaRPr lang="en-US" dirty="0"/>
          </a:p>
          <a:p>
            <a:r>
              <a:rPr lang="en-US" dirty="0"/>
              <a:t>Review Stage of a Document/Section</a:t>
            </a:r>
          </a:p>
          <a:p>
            <a:r>
              <a:rPr lang="en-US" dirty="0"/>
              <a:t>Participants and Privileges:</a:t>
            </a:r>
          </a:p>
          <a:p>
            <a:r>
              <a:rPr lang="en-US" dirty="0"/>
              <a:t>Technical Panel Members (Set by EB Pres or </a:t>
            </a:r>
            <a:r>
              <a:rPr lang="en-US" dirty="0" err="1"/>
              <a:t>SysAdmin</a:t>
            </a:r>
            <a:r>
              <a:rPr lang="en-US" dirty="0"/>
              <a:t>), can comment, and edit</a:t>
            </a:r>
          </a:p>
          <a:p>
            <a:r>
              <a:rPr lang="en-US" dirty="0"/>
              <a:t>Technical Panel President / EB, comment, edit, and submit for proposal.</a:t>
            </a:r>
          </a:p>
          <a:p>
            <a:endParaRPr lang="en-US" dirty="0"/>
          </a:p>
          <a:p>
            <a:r>
              <a:rPr lang="en-US" dirty="0"/>
              <a:t>Proposal State of a Document/Section</a:t>
            </a:r>
          </a:p>
          <a:p>
            <a:r>
              <a:rPr lang="en-US" dirty="0"/>
              <a:t>Participants and Privileges:</a:t>
            </a:r>
          </a:p>
          <a:p>
            <a:r>
              <a:rPr lang="en-US" dirty="0"/>
              <a:t>Technical Panel Members (Set by EB Pres or </a:t>
            </a:r>
            <a:r>
              <a:rPr lang="en-US" dirty="0" err="1"/>
              <a:t>SysAdmin</a:t>
            </a:r>
            <a:r>
              <a:rPr lang="en-US" dirty="0"/>
              <a:t>), can comment</a:t>
            </a:r>
          </a:p>
          <a:p>
            <a:r>
              <a:rPr lang="en-US" dirty="0"/>
              <a:t>Technical Panel President, can accept as </a:t>
            </a:r>
          </a:p>
          <a:p>
            <a:r>
              <a:rPr lang="en-US" dirty="0"/>
              <a:t>Guests from Admin (Non-members who are given EDMS-only access), can comment, accept as final, submit for revision</a:t>
            </a:r>
          </a:p>
          <a:p>
            <a:endParaRPr lang="en-US" dirty="0"/>
          </a:p>
          <a:p>
            <a:r>
              <a:rPr lang="en-US" dirty="0"/>
              <a:t>Final State of a Document/Section</a:t>
            </a:r>
          </a:p>
          <a:p>
            <a:r>
              <a:rPr lang="en-US" dirty="0"/>
              <a:t>Participants and Privileges:</a:t>
            </a:r>
          </a:p>
          <a:p>
            <a:r>
              <a:rPr lang="en-US" dirty="0"/>
              <a:t>Everyone in the System, can view</a:t>
            </a:r>
          </a:p>
          <a:p>
            <a:r>
              <a:rPr lang="en-US" dirty="0"/>
              <a:t>Guests from Admin, can view</a:t>
            </a:r>
          </a:p>
          <a:p>
            <a:r>
              <a:rPr lang="en-US" dirty="0"/>
              <a:t>Technical Panel Members (Set by EB Pres or </a:t>
            </a:r>
            <a:r>
              <a:rPr lang="en-US" dirty="0" err="1"/>
              <a:t>SysAdmin</a:t>
            </a:r>
            <a:r>
              <a:rPr lang="en-US" dirty="0"/>
              <a:t>), can submit for review</a:t>
            </a:r>
          </a:p>
          <a:p>
            <a:endParaRPr lang="en-US" dirty="0"/>
          </a:p>
          <a:p>
            <a:r>
              <a:rPr lang="en-US" dirty="0"/>
              <a:t>If there are voting procedures:</a:t>
            </a:r>
          </a:p>
          <a:p>
            <a:r>
              <a:rPr lang="en-US" dirty="0"/>
              <a:t>Review Stage of a Document/Section</a:t>
            </a:r>
          </a:p>
          <a:p>
            <a:r>
              <a:rPr lang="en-US" dirty="0"/>
              <a:t>Technical Panel Member clicks “Save”: </a:t>
            </a:r>
          </a:p>
          <a:p>
            <a:r>
              <a:rPr lang="en-US" dirty="0"/>
              <a:t>- Given a quorum attendance # set by EB Admin (usually 2/3 of all </a:t>
            </a:r>
            <a:r>
              <a:rPr lang="en-US" dirty="0" err="1"/>
              <a:t>Techpanel</a:t>
            </a:r>
            <a:r>
              <a:rPr lang="en-US" dirty="0"/>
              <a:t> Members), 2/3 of all present  must agree upon clicking on approve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5339-08FD-4BE4-9A7E-DB09E99E4B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65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BCA83-34EA-4B3C-A758-D11896376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716AF-7FEE-4582-BCB5-EAD203D75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7F69-79DD-4622-8539-91A1BC7D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A6C75-AD90-445E-B5B7-53C6913C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3580C-97ED-424A-A958-FDDC236D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96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480C-674C-4AEE-88CD-A764BA0F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65A0E-8FF3-4F65-BF1F-C551C543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E83FC-84E4-4B3B-A098-345AF273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4F269-259E-4FA0-BB24-B314C26D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9C0DA-0130-4C8E-98B6-102E1811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1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0C3B-8B33-425E-B475-8A12D028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D682F-F5C5-4E42-AE08-FED43E326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52C7E-AC25-48E4-91C7-4245EEC3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4F197-83BC-4823-A215-5EA5E483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6FBEF-7E17-498A-8EDF-C4F209F9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6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DDD5-A924-4FEA-92A9-8C5C1F1B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D5D-6EF7-4F6B-9E4B-2EF1FEFC6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D6078-B563-4BBD-ADE8-D2DBCFAC0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08DCB-3471-4054-8A72-40F060F6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85C51-EE1A-4E1D-9B62-97BA2A05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CBE2-389F-480B-9913-921CDCF9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6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3532-1DB6-42EB-8B58-D47F0148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14D44-4CD2-4A03-8111-60732FFF2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6E6DB-FD68-413A-BA47-8B0B71238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8D17B-5028-4EDD-96F0-0BE10605F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F5EE9-BBCA-4BC1-B49B-9C4B38C78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9B5F8-5179-4351-BC71-85AAFFDEB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BA86F-C000-4DE7-A2C1-1E07DAB8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D985F9-0ABA-4700-BDAF-7D69AFA2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33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533D-A088-4303-925C-0C122682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B9522-2344-47E2-BE53-688F0A3A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BEF5A-9379-453B-863B-B19297AE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4EC73-264B-4091-B26D-4555B770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7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2A410-8ED6-42CA-9404-77185B0C4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A7DF1-A5E3-4BE1-A75A-A0E5A8F97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7A252-E7D7-4E69-B177-D570572B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5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4F566-BD09-483E-84D8-9C8937BE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1795B-67EB-4F4F-BCCE-6F05100E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B4AA4-C35E-446E-962F-76CBDC0DD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94FE1-0E9F-42E5-8EAE-B704D9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2D35B-D81A-448B-B0D6-D793C5A7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3EEDB-DFF6-49D1-A584-D29471F0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6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F2A13-BF78-4DF8-B09A-0337A2E2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E16E92-CBA3-4EEA-A410-F1AA1994B6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398B3-1CB0-4AE5-87EB-F175B88BD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C4A56-A9D6-40C9-BABE-BF143C21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52DC3-5340-49AF-96CE-4CBFF5B9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B3F6-9AD1-4026-9026-8566D4EF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27FD-57EC-4A64-8D02-C01EE980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4EA92-AA20-4951-B90A-5F950F5BF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6BB97-D575-4E71-91E8-D1470EA4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06ACE-4A89-4466-B0A1-1AA0905F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8C06D-65FC-4835-BC10-3366B28E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3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1C5A2-7EBC-4471-AA9A-9D463AC75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DEF45-4948-462F-8B14-4BA9362DA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645A-42FA-4C40-BA54-D64A73C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839F2-E276-4AAE-A39A-4BC2BF90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CABC8-AC9E-4098-B791-2E6B5738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0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EF16F-1220-4D1B-B47D-B23A4FD0C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85A68-3A87-4125-9447-05AC90D39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2234F-66A2-40AA-A3B0-013830FE5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69499-21F4-4D2C-86D4-4AB414E40272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C78B-0C3D-4853-B5A2-4CF9A8942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996F7-75B2-42C4-B9C4-54CF255BD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46C89-DB19-4302-917D-1DF8A6E3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B1BAE0-9DB7-4C5B-BCD5-45F678C1F130}"/>
              </a:ext>
            </a:extLst>
          </p:cNvPr>
          <p:cNvSpPr/>
          <p:nvPr/>
        </p:nvSpPr>
        <p:spPr>
          <a:xfrm>
            <a:off x="1400907" y="2801816"/>
            <a:ext cx="5756031" cy="3704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 HTML Content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E7543-83A9-4E17-8429-ACDDEC13E664}"/>
              </a:ext>
            </a:extLst>
          </p:cNvPr>
          <p:cNvSpPr/>
          <p:nvPr/>
        </p:nvSpPr>
        <p:spPr>
          <a:xfrm>
            <a:off x="1400906" y="1948962"/>
            <a:ext cx="2022231" cy="644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Section 1.1.2.1.2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E366ED-5E90-4A1E-B9F6-4EB266C80B68}"/>
              </a:ext>
            </a:extLst>
          </p:cNvPr>
          <p:cNvSpPr/>
          <p:nvPr/>
        </p:nvSpPr>
        <p:spPr>
          <a:xfrm>
            <a:off x="3663460" y="1948962"/>
            <a:ext cx="3493477" cy="644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Section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C1ED02-E96B-434B-96C5-CD9C7D2B9554}"/>
              </a:ext>
            </a:extLst>
          </p:cNvPr>
          <p:cNvSpPr/>
          <p:nvPr/>
        </p:nvSpPr>
        <p:spPr>
          <a:xfrm>
            <a:off x="1400907" y="1096107"/>
            <a:ext cx="5756030" cy="644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Faculty Manual</a:t>
            </a:r>
            <a:r>
              <a:rPr lang="en-US" dirty="0"/>
              <a:t> / </a:t>
            </a:r>
            <a:r>
              <a:rPr lang="en-US" u="sng" dirty="0"/>
              <a:t>Section 1</a:t>
            </a:r>
            <a:r>
              <a:rPr lang="en-US" dirty="0"/>
              <a:t> /… / Section 1.1.2.1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1E10A4-A899-4678-95AF-AF706CEC2B90}"/>
              </a:ext>
            </a:extLst>
          </p:cNvPr>
          <p:cNvSpPr/>
          <p:nvPr/>
        </p:nvSpPr>
        <p:spPr>
          <a:xfrm>
            <a:off x="7397260" y="1096107"/>
            <a:ext cx="4243755" cy="3452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Created / By Author(s)</a:t>
            </a:r>
          </a:p>
          <a:p>
            <a:r>
              <a:rPr lang="en-US" dirty="0"/>
              <a:t>Date Last Updated / By Updater</a:t>
            </a:r>
          </a:p>
          <a:p>
            <a:r>
              <a:rPr lang="en-US" dirty="0"/>
              <a:t>Version History (Link) </a:t>
            </a:r>
          </a:p>
          <a:p>
            <a:r>
              <a:rPr lang="en-US" dirty="0"/>
              <a:t>Action Dropdown </a:t>
            </a:r>
          </a:p>
          <a:p>
            <a:pPr marL="285750" indent="-285750">
              <a:buFontTx/>
              <a:buChar char="-"/>
            </a:pPr>
            <a:r>
              <a:rPr lang="en-US" dirty="0"/>
              <a:t>(Review) Save / Submit as Proposal</a:t>
            </a:r>
          </a:p>
          <a:p>
            <a:pPr marL="285750" indent="-285750">
              <a:buFontTx/>
              <a:buChar char="-"/>
            </a:pPr>
            <a:r>
              <a:rPr lang="en-US" dirty="0"/>
              <a:t>(Proposal) Accept as Final / Submit for Revision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(Final) Submit for Review (Locked)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0E1906-ED84-4ED8-8BB7-6C90CD560B4A}"/>
              </a:ext>
            </a:extLst>
          </p:cNvPr>
          <p:cNvSpPr/>
          <p:nvPr/>
        </p:nvSpPr>
        <p:spPr>
          <a:xfrm>
            <a:off x="7397260" y="4888523"/>
            <a:ext cx="4243755" cy="1617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210800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93481F-A79F-4800-A56C-0E74F91B10B5}"/>
              </a:ext>
            </a:extLst>
          </p:cNvPr>
          <p:cNvSpPr/>
          <p:nvPr/>
        </p:nvSpPr>
        <p:spPr>
          <a:xfrm>
            <a:off x="700088" y="357188"/>
            <a:ext cx="7429500" cy="558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Negotiations Settings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623D9E-2A6A-41EE-923D-6D622F179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850795"/>
              </p:ext>
            </p:extLst>
          </p:nvPr>
        </p:nvGraphicFramePr>
        <p:xfrm>
          <a:off x="700088" y="1748366"/>
          <a:ext cx="74295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303072811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50119981"/>
                    </a:ext>
                  </a:extLst>
                </a:gridCol>
              </a:tblGrid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154767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 err="1"/>
                        <a:t>Julita</a:t>
                      </a:r>
                      <a:r>
                        <a:rPr lang="en-US" dirty="0"/>
                        <a:t> Robles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Panel President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51442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Christian Alderite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Panel Member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855854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Juan </a:t>
                      </a:r>
                      <a:r>
                        <a:rPr lang="en-US" dirty="0" err="1"/>
                        <a:t>dela</a:t>
                      </a:r>
                      <a:r>
                        <a:rPr lang="en-US" dirty="0"/>
                        <a:t> Cruz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 from 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995683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78143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3592569-5A3A-4FD4-824B-F5A73F8CC630}"/>
              </a:ext>
            </a:extLst>
          </p:cNvPr>
          <p:cNvSpPr/>
          <p:nvPr/>
        </p:nvSpPr>
        <p:spPr>
          <a:xfrm>
            <a:off x="700088" y="1059073"/>
            <a:ext cx="7429500" cy="558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Members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EA6C05-1416-4DD9-A345-3DBB8C568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758050"/>
              </p:ext>
            </p:extLst>
          </p:nvPr>
        </p:nvGraphicFramePr>
        <p:xfrm>
          <a:off x="700088" y="4391762"/>
          <a:ext cx="74295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878">
                  <a:extLst>
                    <a:ext uri="{9D8B030D-6E8A-4147-A177-3AD203B41FA5}">
                      <a16:colId xmlns:a16="http://schemas.microsoft.com/office/drawing/2014/main" val="3030728110"/>
                    </a:ext>
                  </a:extLst>
                </a:gridCol>
                <a:gridCol w="4144322">
                  <a:extLst>
                    <a:ext uri="{9D8B030D-6E8A-4147-A177-3AD203B41FA5}">
                      <a16:colId xmlns:a16="http://schemas.microsoft.com/office/drawing/2014/main" val="25011998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156776177"/>
                    </a:ext>
                  </a:extLst>
                </a:gridCol>
              </a:tblGrid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154767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Settings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51442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Settings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855854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Settings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995683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78143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56FD833-911B-4CE7-9BF7-AFC389D32CE2}"/>
              </a:ext>
            </a:extLst>
          </p:cNvPr>
          <p:cNvSpPr/>
          <p:nvPr/>
        </p:nvSpPr>
        <p:spPr>
          <a:xfrm>
            <a:off x="700088" y="3705434"/>
            <a:ext cx="7429500" cy="558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Stages</a:t>
            </a:r>
          </a:p>
        </p:txBody>
      </p:sp>
    </p:spTree>
    <p:extLst>
      <p:ext uri="{BB962C8B-B14F-4D97-AF65-F5344CB8AC3E}">
        <p14:creationId xmlns:p14="http://schemas.microsoft.com/office/powerpoint/2010/main" val="298698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6E86F2-19E3-4628-997D-1A80F5EE6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286742"/>
              </p:ext>
            </p:extLst>
          </p:nvPr>
        </p:nvGraphicFramePr>
        <p:xfrm>
          <a:off x="400049" y="3563407"/>
          <a:ext cx="741521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209">
                  <a:extLst>
                    <a:ext uri="{9D8B030D-6E8A-4147-A177-3AD203B41FA5}">
                      <a16:colId xmlns:a16="http://schemas.microsoft.com/office/drawing/2014/main" val="3030728110"/>
                    </a:ext>
                  </a:extLst>
                </a:gridCol>
                <a:gridCol w="1185084">
                  <a:extLst>
                    <a:ext uri="{9D8B030D-6E8A-4147-A177-3AD203B41FA5}">
                      <a16:colId xmlns:a16="http://schemas.microsoft.com/office/drawing/2014/main" val="250119981"/>
                    </a:ext>
                  </a:extLst>
                </a:gridCol>
                <a:gridCol w="1483083">
                  <a:extLst>
                    <a:ext uri="{9D8B030D-6E8A-4147-A177-3AD203B41FA5}">
                      <a16:colId xmlns:a16="http://schemas.microsoft.com/office/drawing/2014/main" val="2744662766"/>
                    </a:ext>
                  </a:extLst>
                </a:gridCol>
                <a:gridCol w="2128838">
                  <a:extLst>
                    <a:ext uri="{9D8B030D-6E8A-4147-A177-3AD203B41FA5}">
                      <a16:colId xmlns:a16="http://schemas.microsoft.com/office/drawing/2014/main" val="1531724140"/>
                    </a:ext>
                  </a:extLst>
                </a:gridCol>
              </a:tblGrid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and 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Submit for Proposal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154767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Technical Panel President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51442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Technical Panel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85585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A66BAE4-64DA-485E-ACF7-0CD90F7DFA0D}"/>
              </a:ext>
            </a:extLst>
          </p:cNvPr>
          <p:cNvSpPr/>
          <p:nvPr/>
        </p:nvSpPr>
        <p:spPr>
          <a:xfrm>
            <a:off x="400050" y="565041"/>
            <a:ext cx="7429500" cy="558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Negotiation Settings &gt; Review Stage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B4CECA-2F26-4D4A-AE39-7D343E90C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99980"/>
              </p:ext>
            </p:extLst>
          </p:nvPr>
        </p:nvGraphicFramePr>
        <p:xfrm>
          <a:off x="400050" y="1977494"/>
          <a:ext cx="74295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038">
                  <a:extLst>
                    <a:ext uri="{9D8B030D-6E8A-4147-A177-3AD203B41FA5}">
                      <a16:colId xmlns:a16="http://schemas.microsoft.com/office/drawing/2014/main" val="3030728110"/>
                    </a:ext>
                  </a:extLst>
                </a:gridCol>
                <a:gridCol w="4843462">
                  <a:extLst>
                    <a:ext uri="{9D8B030D-6E8A-4147-A177-3AD203B41FA5}">
                      <a16:colId xmlns:a16="http://schemas.microsoft.com/office/drawing/2014/main" val="250119981"/>
                    </a:ext>
                  </a:extLst>
                </a:gridCol>
              </a:tblGrid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Route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Destination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154767"/>
                  </a:ext>
                </a:extLst>
              </a:tr>
              <a:tr h="310409">
                <a:tc>
                  <a:txBody>
                    <a:bodyPr/>
                    <a:lstStyle/>
                    <a:p>
                      <a:r>
                        <a:rPr lang="en-US" dirty="0"/>
                        <a:t>Submit for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5144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87CB8FF-CCD6-4858-8DBC-51540E682AF5}"/>
              </a:ext>
            </a:extLst>
          </p:cNvPr>
          <p:cNvSpPr/>
          <p:nvPr/>
        </p:nvSpPr>
        <p:spPr>
          <a:xfrm>
            <a:off x="400050" y="1271267"/>
            <a:ext cx="7429500" cy="558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04CDB6-246A-421A-9A2F-94445EF5DE7F}"/>
              </a:ext>
            </a:extLst>
          </p:cNvPr>
          <p:cNvSpPr/>
          <p:nvPr/>
        </p:nvSpPr>
        <p:spPr>
          <a:xfrm>
            <a:off x="400050" y="2850139"/>
            <a:ext cx="7429500" cy="558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Roles and Permissions</a:t>
            </a:r>
          </a:p>
        </p:txBody>
      </p:sp>
    </p:spTree>
    <p:extLst>
      <p:ext uri="{BB962C8B-B14F-4D97-AF65-F5344CB8AC3E}">
        <p14:creationId xmlns:p14="http://schemas.microsoft.com/office/powerpoint/2010/main" val="215726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B1BAE0-9DB7-4C5B-BCD5-45F678C1F130}"/>
              </a:ext>
            </a:extLst>
          </p:cNvPr>
          <p:cNvSpPr/>
          <p:nvPr/>
        </p:nvSpPr>
        <p:spPr>
          <a:xfrm>
            <a:off x="1400907" y="2801816"/>
            <a:ext cx="5756031" cy="3704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 Always Synced with Google Docs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E7543-83A9-4E17-8429-ACDDEC13E664}"/>
              </a:ext>
            </a:extLst>
          </p:cNvPr>
          <p:cNvSpPr/>
          <p:nvPr/>
        </p:nvSpPr>
        <p:spPr>
          <a:xfrm>
            <a:off x="1400906" y="1948962"/>
            <a:ext cx="2022231" cy="644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Section 1.1.2.1.2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E366ED-5E90-4A1E-B9F6-4EB266C80B68}"/>
              </a:ext>
            </a:extLst>
          </p:cNvPr>
          <p:cNvSpPr/>
          <p:nvPr/>
        </p:nvSpPr>
        <p:spPr>
          <a:xfrm>
            <a:off x="3663460" y="1948962"/>
            <a:ext cx="3493477" cy="644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Section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C1ED02-E96B-434B-96C5-CD9C7D2B9554}"/>
              </a:ext>
            </a:extLst>
          </p:cNvPr>
          <p:cNvSpPr/>
          <p:nvPr/>
        </p:nvSpPr>
        <p:spPr>
          <a:xfrm>
            <a:off x="1400907" y="1096107"/>
            <a:ext cx="5756030" cy="644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Faculty Manual</a:t>
            </a:r>
            <a:r>
              <a:rPr lang="en-US" dirty="0"/>
              <a:t> / </a:t>
            </a:r>
            <a:r>
              <a:rPr lang="en-US" u="sng" dirty="0"/>
              <a:t>Section 1</a:t>
            </a:r>
            <a:r>
              <a:rPr lang="en-US" dirty="0"/>
              <a:t> /… / Section 1.1.2.1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1E10A4-A899-4678-95AF-AF706CEC2B90}"/>
              </a:ext>
            </a:extLst>
          </p:cNvPr>
          <p:cNvSpPr/>
          <p:nvPr/>
        </p:nvSpPr>
        <p:spPr>
          <a:xfrm>
            <a:off x="7397260" y="1096107"/>
            <a:ext cx="4243755" cy="25614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(Meta Data GET from Google Docs)</a:t>
            </a:r>
          </a:p>
          <a:p>
            <a:r>
              <a:rPr lang="en-US" dirty="0"/>
              <a:t>Date Created / By Author</a:t>
            </a:r>
          </a:p>
          <a:p>
            <a:r>
              <a:rPr lang="en-US" dirty="0"/>
              <a:t>Date Last Updated / By Updater</a:t>
            </a:r>
          </a:p>
          <a:p>
            <a:r>
              <a:rPr lang="en-US" dirty="0"/>
              <a:t>Version History (Link)</a:t>
            </a:r>
          </a:p>
          <a:p>
            <a:r>
              <a:rPr lang="en-US" dirty="0"/>
              <a:t>Action Dropdown (Affects Google Docs)</a:t>
            </a:r>
          </a:p>
          <a:p>
            <a:pPr marL="285750" indent="-285750">
              <a:buFontTx/>
              <a:buChar char="-"/>
            </a:pPr>
            <a:r>
              <a:rPr lang="en-US" dirty="0"/>
              <a:t>(Review) Save / Submit as Proposal</a:t>
            </a:r>
          </a:p>
          <a:p>
            <a:pPr marL="285750" indent="-285750">
              <a:buFontTx/>
              <a:buChar char="-"/>
            </a:pPr>
            <a:r>
              <a:rPr lang="en-US" dirty="0"/>
              <a:t>(Proposal) Accept / Submit for Revision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(Final) Submit for Review (Locked)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D7C0CE-65DF-4A50-A97F-BAF3AEFE928C}"/>
              </a:ext>
            </a:extLst>
          </p:cNvPr>
          <p:cNvSpPr/>
          <p:nvPr/>
        </p:nvSpPr>
        <p:spPr>
          <a:xfrm>
            <a:off x="7397260" y="3944813"/>
            <a:ext cx="4243755" cy="25614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Fetched from Google Docs</a:t>
            </a:r>
          </a:p>
        </p:txBody>
      </p:sp>
    </p:spTree>
    <p:extLst>
      <p:ext uri="{BB962C8B-B14F-4D97-AF65-F5344CB8AC3E}">
        <p14:creationId xmlns:p14="http://schemas.microsoft.com/office/powerpoint/2010/main" val="170385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411</Words>
  <Application>Microsoft Office PowerPoint</Application>
  <PresentationFormat>Widescreen</PresentationFormat>
  <Paragraphs>91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 Nicole Alderite</dc:creator>
  <cp:lastModifiedBy>Christian Nicole Alderite</cp:lastModifiedBy>
  <cp:revision>13</cp:revision>
  <dcterms:created xsi:type="dcterms:W3CDTF">2019-02-09T14:54:07Z</dcterms:created>
  <dcterms:modified xsi:type="dcterms:W3CDTF">2019-02-09T16:53:52Z</dcterms:modified>
</cp:coreProperties>
</file>